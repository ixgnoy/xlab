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[0:00-0:10] PersonaLab is a Sokosumi Coworker that launches and grows an original AI influencer. Four ready-to-run tasks: Create, Script, Trends and Analyze, each paid per task through Masumi on Cardano.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Creators and small brands pay a monthly subscription for a closed dashboard, even when they only need one job done.</a:t>
            </a:r>
          </a:p>
          <a:p>
            <a:r>
              <a:t>Trend research is the slowest part and is usually guesswork without sources.</a:t>
            </a:r>
          </a:p>
          <a:p>
            <a:r>
              <a:t>Nothing lets an agent marketplace sell these jobs one task at a time, with on-chain escrow and a verifiable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Coworker with four task cards in Sokosumi. Each card's prompt carries a stage tag that the LangGraph supervisor routes on.</a:t>
            </a:r>
          </a:p>
          <a:p>
            <a:r>
              <a:t>Create builds the persona, photos with an image model, a reel script and a 7-day plan.</a:t>
            </a:r>
          </a:p>
          <a:p>
            <a:r>
              <a:t>Script writes trend-based Reels and TikTok scripts. Trends runs a swarm of parallel research agents and cites its evidence.</a:t>
            </a:r>
          </a:p>
          <a:p>
            <a:r>
              <a:t>Analyze turns pasted metrics into KPIs, hook scores and next week's plan.</a:t>
            </a:r>
          </a:p>
          <a:p>
            <a:r>
              <a:t>Schedule and Engage exist in code in dry-run mode but are not offered, because Sokosumi cannot link Instagram or TikTok accounts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EMBED: select the placeholder box, delete it, then Insert &gt; Video &gt; This Device and place the recording in the same area.</a:t>
            </a:r>
          </a:p>
          <a:p>
            <a:r>
              <a:t>The hackathon requires the video embedded in the file (no external links, no live demo).</a:t>
            </a:r>
          </a:p>
          <a:p/>
          <a:p>
            <a:r>
              <a:t>90-SECOND TALK TRACK</a:t>
            </a:r>
          </a:p>
          <a:p>
            <a:r>
              <a:t>[0:00-0:10] Title, then the Sokosumi Coworker page with the four cards.</a:t>
            </a:r>
          </a:p>
          <a:p>
            <a:r>
              <a:t>  "PersonaLab is a Sokosumi Coworker that runs an AI influencer: Create, Script, Trends, Analyze."</a:t>
            </a:r>
          </a:p>
          <a:p>
            <a:r>
              <a:t>[0:10-0:25] Open the Trends card and fill in the niche.</a:t>
            </a:r>
          </a:p>
          <a:p>
            <a:r>
              <a:t>  "I pick Trends and give it my niche. The prompt starts with a stage tag."</a:t>
            </a:r>
          </a:p>
          <a:p>
            <a:r>
              <a:t>[0:25-0:35] Worker log shows runtime start; the Task shows RUNNING.</a:t>
            </a:r>
          </a:p>
          <a:p>
            <a:r>
              <a:t>  "Our Node worker picks the Task up and starts it with the Coworker's own runtime key."</a:t>
            </a:r>
          </a:p>
          <a:p>
            <a:r>
              <a:t>[0:35-0:50] Graph log: the supervisor routes to the trend swarm; several researchers run in parallel.</a:t>
            </a:r>
          </a:p>
          <a:p>
            <a:r>
              <a:t>  "A LangGraph supervisor reads the tag and fans out a swarm of research agents on DeepSeek V4.1 Flash."</a:t>
            </a:r>
          </a:p>
          <a:p>
            <a:r>
              <a:t>[0:50-1:05] Task COMPLETED. Scroll the result: ranked trends, each with cited sources, then a Script run that uses them.</a:t>
            </a:r>
          </a:p>
          <a:p>
            <a:r>
              <a:t>  "Every trend comes with its evidence. No invented numbers."</a:t>
            </a:r>
          </a:p>
          <a:p>
            <a:r>
              <a:t>[1:05-1:20] Payment: MPS terms, escrow FundsLocked on preprod.cardanoscan.io, result hash, collection (when done).</a:t>
            </a:r>
          </a:p>
          <a:p>
            <a:r>
              <a:t>  "Paid Tasks settle through Masumi: 1 test USDM is locked in escrow, the result hash is submitted, and the seller collects on Cardano Preprod."</a:t>
            </a:r>
          </a:p>
          <a:p>
            <a:r>
              <a:t>[1:20-1:30] Evidence slide.</a:t>
            </a:r>
          </a:p>
          <a:p>
            <a:r>
              <a:t>  "Every step is journaled, so nothing runs or pays twice. PersonaLab: your AI influencer team, hired by the task."</a:t>
            </a:r>
          </a:p>
          <a:p/>
          <a:p>
            <a:r>
              <a:t>Evidence Tasks: 01a115be-d0ca-77d5-bf90-b98aa4487fec (personal), 01a115c6-b98d-75bd-b5b0-7ab2f85d4ab4 (event workspace), paid 01a115db-7a10-7148-8526-d516924c360c.</a:t>
            </a:r>
          </a:p>
          <a:p>
            <a:r>
              <a:t>Recording: 1080p; hide .env.local, terminal history, seed phrases, wallet output, email addresses and local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Sokosumi Task is polled by our Node worker (one worker lock, a journal per Task). The worker calls runtime start and runtime complete</a:t>
            </a:r>
          </a:p>
          <a:p>
            <a:r>
              <a:t>with the Coworker key from the OS vault, and handles Masumi payment through the Masumi Payment Service on Cardano Preprod.</a:t>
            </a:r>
          </a:p>
          <a:p>
            <a:r>
              <a:t>The worker calls the Python LangGraph service over loopback HTTP with a bearer token. The supervisor routes to the stage's agents.</a:t>
            </a:r>
          </a:p>
          <a:p>
            <a:r>
              <a:t>Text work runs on DeepSeek V4.1 Flash, with OpenRouter as fallback. Persona photos use an image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supervisor reads the stage tag from the card prompt; untagged input is classified by the model.</a:t>
            </a:r>
          </a:p>
          <a:p>
            <a:r>
              <a:t>Create chains persona, content and media agents. Script and Analyze are single focused agents.</a:t>
            </a:r>
          </a:p>
          <a:p>
            <a:r>
              <a:t>Trends is a swarm: the work is split into research angles, parallel research agents run at the same time,</a:t>
            </a:r>
          </a:p>
          <a:p>
            <a:r>
              <a:t>and a merge step dedupes and ranks the trends. A trend without a cited source is dropped.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Terms: the buyer starts a paid Task; MPS quotes 1 tUSDM with signed deadlines (payByTime, submitResultTime, unlockTime).</a:t>
            </a:r>
          </a:p>
          <a:p>
            <a:r>
              <a:t>2. Escrow: the buyer's masumiPayment locks funds in the Web3CardanoV2 contract; the worker waits for on-chain confirmation.</a:t>
            </a:r>
          </a:p>
          <a:p>
            <a:r>
              <a:t>   Paid Task 01a115db-7a10-7148-8526-d516924c360c reached FundsLocked.</a:t>
            </a:r>
          </a:p>
          <a:p>
            <a:r>
              <a:t>3. Result hash: the worker runs the graph, submits the SHA-256 result hash to MPS and completes the Task.</a:t>
            </a:r>
          </a:p>
          <a:p>
            <a:r>
              <a:t>4. Collection: after unlockTime the seller collects. settlement.mjs checks Core's receipt against the MPS withdrawal tx and</a:t>
            </a:r>
          </a:p>
          <a:p>
            <a:r>
              <a:t>   Blockfrost UTxOs and reports the net amount received. Collection is still pending; do not claim it until the tx is confirmed.</a:t>
            </a:r>
          </a:p>
          <a:p>
            <a:r>
              <a:t>Every step is saved before the next outside write, so a crash never pays or collects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IDs here were read back from Sokosumi, MPS or the chain. TODO cells are not done yet and must not be filled with guesses.</a:t>
            </a:r>
          </a:p>
          <a:p>
            <a:r>
              <a:t>Full Masumi agentIdentifier: 67ab0c92c4ac1610895a1c965ee50aba41a8f1513b15240723b3bd0b10648ac99be37c280788d2c1a9270b4960d342b1d4fb4a830b5beba022000000</a:t>
            </a:r>
          </a:p>
          <a:p>
            <a:r>
              <a:t>Registration tx: https://preprod.cardanoscan.io/transaction/ca5832b506f34a834a732eba2ff3f00cc52f2fb6bcf84016670deadc6af85dc1</a:t>
            </a:r>
          </a:p>
          <a:p>
            <a:r>
              <a:t>Update the EVIDENCE dict in docs/deck/build_deck.py and re-run it when the collection tx is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card has fixed section headings, and the smoke test counts them.</a:t>
            </a:r>
          </a:p>
          <a:p>
            <a:r>
              <a:t>The prompts forbid invented statistics, follower counts and testimonials; unsure figures are marked [verify].</a:t>
            </a:r>
          </a:p>
          <a:p>
            <a:r>
              <a:t>Trends keeps only trends with a cited source. Personas are always original, with AI disclosure recommended.</a:t>
            </a:r>
          </a:p>
          <a:p>
            <a:r>
              <a:t>Pasted comments, metrics and web pages are treated as untrusted data. Analyze returns a measurement plan if no metrics are given.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steps could not be done by the agent alone, and are recorded in docs/setup-state.md with the error history.</a:t>
            </a:r>
          </a:p>
          <a:p>
            <a:r>
              <a:t>The biggest scope change: Sokosumi cannot link Instagram or TikTok accounts, so Schedule and Engage were taken off the card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 and Engage are already written and tested in dry-run mode; they go live when Sokosumi supports linking social accounts.</a:t>
            </a:r>
          </a:p>
          <a:p>
            <a:r>
              <a:t>After that: video reels and voice, human approval through LangGraph interrupts, each stage as its own hireable Masumi agent, and a hosted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repository is private. Judges need to be given access before review: share the GitHub handles with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reprod.cardanoscan.io/transaction/ca5832b506f34a834a732eba2ff3f00cc52f2fb6bcf84016670deadc6af85dc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ixgnoy/personalab-coworker" TargetMode="External"/><Relationship Id="rId4" Type="http://schemas.openxmlformats.org/officeDocument/2006/relationships/hyperlink" Target="https://preprod.cardanoscan.io/transaction/ca5832b506f34a834a732eba2ff3f00cc52f2fb6bcf84016670deadc6af85dc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920240"/>
            <a:ext cx="109728" cy="21945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051560" y="17830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Segoe UI"/>
              </a:rPr>
              <a:t>PersonaLab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88036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>
                <a:solidFill>
                  <a:srgbClr val="A0A3B1"/>
                </a:solidFill>
                <a:latin typeface="Segoe UI"/>
              </a:rPr>
              <a:t>A Sokosumi Coworker that launches and grows an original AI influencer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657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Segoe UI"/>
              </a:rPr>
              <a:t>Create  ·  Script  ·  Trends  · 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1206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0A3B1"/>
                </a:solidFill>
                <a:latin typeface="Segoe UI"/>
              </a:rPr>
              <a:t>Built with Masumi + Sokosumi on Cardano Preprod  ·  Vendor CardanoFish  ·  TOKEN2049 Origins Hackathon</a:t>
            </a:r>
          </a:p>
          <a:p>
            <a:pPr algn="l"/>
            <a:r>
              <a:rPr sz="1400" b="0">
                <a:solidFill>
                  <a:srgbClr val="A0A3B1"/>
                </a:solidFill>
                <a:latin typeface="Segoe UI"/>
              </a:rPr>
              <a:t>Coworker 01a1156a-dbc8-7360-813b-043c0e148296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Segoe UI"/>
              </a:rPr>
              <a:t>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77240" y="566928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AI-influencer tools are closed subscriptions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0A3B1"/>
                </a:solidFill>
                <a:latin typeface="Segoe UI"/>
              </a:rPr>
              <a:t>PersonaLab  ·  TOKEN2049 Origins  ·  Masumi + Sokosumi on Cardano Preprod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A0A3B1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400" b="0">
                <a:solidFill>
                  <a:srgbClr val="8B5CF6"/>
                </a:solidFill>
                <a:latin typeface="Segoe UI"/>
              </a:rPr>
              <a:t>■  </a:t>
            </a:r>
            <a:r>
              <a:rPr sz="2200" b="1">
                <a:solidFill>
                  <a:srgbClr val="FFFFFF"/>
                </a:solidFill>
                <a:latin typeface="Segoe UI"/>
              </a:rPr>
              <a:t>Closed SaaS</a:t>
            </a:r>
            <a:r>
              <a:rPr sz="2200" b="0">
                <a:solidFill>
                  <a:srgbClr val="A0A3B1"/>
                </a:solidFill>
                <a:latin typeface="Segoe UI"/>
              </a:rPr>
              <a:t>  $19-99 a month, credit-based, locked to one dashboard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8B5CF6"/>
                </a:solidFill>
                <a:latin typeface="Segoe UI"/>
              </a:rPr>
              <a:t>■  </a:t>
            </a:r>
            <a:r>
              <a:rPr sz="2200" b="1">
                <a:solidFill>
                  <a:srgbClr val="FFFFFF"/>
                </a:solidFill>
                <a:latin typeface="Segoe UI"/>
              </a:rPr>
              <a:t>Four separate jobs</a:t>
            </a:r>
            <a:r>
              <a:rPr sz="2200" b="0">
                <a:solidFill>
                  <a:srgbClr val="A0A3B1"/>
                </a:solidFill>
                <a:latin typeface="Segoe UI"/>
              </a:rPr>
              <a:t>  persona, scripts, trend research and analytics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8B5CF6"/>
                </a:solidFill>
                <a:latin typeface="Segoe UI"/>
              </a:rPr>
              <a:t>■  </a:t>
            </a:r>
            <a:r>
              <a:rPr sz="2200" b="1">
                <a:solidFill>
                  <a:srgbClr val="FFFFFF"/>
                </a:solidFill>
                <a:latin typeface="Segoe UI"/>
              </a:rPr>
              <a:t>Trend research is guesswork</a:t>
            </a:r>
            <a:r>
              <a:rPr sz="2200" b="0">
                <a:solidFill>
                  <a:srgbClr val="A0A3B1"/>
                </a:solidFill>
                <a:latin typeface="Segoe UI"/>
              </a:rPr>
              <a:t>  creators copy what they see, with no sources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8B5CF6"/>
                </a:solidFill>
                <a:latin typeface="Segoe UI"/>
              </a:rPr>
              <a:t>■  </a:t>
            </a:r>
            <a:r>
              <a:rPr sz="2200" b="1">
                <a:solidFill>
                  <a:srgbClr val="FFFFFF"/>
                </a:solidFill>
                <a:latin typeface="Segoe UI"/>
              </a:rPr>
              <a:t>Made-up numbers</a:t>
            </a:r>
            <a:r>
              <a:rPr sz="2200" b="0">
                <a:solidFill>
                  <a:srgbClr val="A0A3B1"/>
                </a:solidFill>
                <a:latin typeface="Segoe UI"/>
              </a:rPr>
              <a:t>  generic AI tools invent stats and follower counts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8B5CF6"/>
                </a:solidFill>
                <a:latin typeface="Segoe UI"/>
              </a:rPr>
              <a:t>■  </a:t>
            </a:r>
            <a:r>
              <a:rPr sz="2200" b="1">
                <a:solidFill>
                  <a:srgbClr val="FFFFFF"/>
                </a:solidFill>
                <a:latin typeface="Segoe UI"/>
              </a:rPr>
              <a:t>No pay-per-task option</a:t>
            </a:r>
            <a:r>
              <a:rPr sz="2200" b="0">
                <a:solidFill>
                  <a:srgbClr val="A0A3B1"/>
                </a:solidFill>
                <a:latin typeface="Segoe UI"/>
              </a:rPr>
              <a:t>  no marketplace sells these jobs per task with on-chain payment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Segoe UI"/>
              </a:rPr>
              <a:t>SOLUTION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77240" y="566928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One Coworker, four ready-to-run tasks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0A3B1"/>
                </a:solidFill>
                <a:latin typeface="Segoe UI"/>
              </a:rPr>
              <a:t>PersonaLab  ·  TOKEN2049 Origins  ·  Masumi + Sokosumi on Cardano Preprod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A0A3B1"/>
                </a:solidFill>
                <a:latin typeface="Segoe U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2606040" cy="3200400"/>
          </a:xfrm>
          <a:prstGeom prst="rect">
            <a:avLst/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2606040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22402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AI persona card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Persona photos via image model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8-second reel script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7-day post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600200"/>
            <a:ext cx="2606040" cy="3200400"/>
          </a:xfrm>
          <a:prstGeom prst="rect">
            <a:avLst/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600200"/>
            <a:ext cx="2606040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82880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514600"/>
            <a:ext cx="22402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Trend-based scripts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Reels and TikTok formats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Hook, beats, shot list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Caption + hashtags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600200"/>
            <a:ext cx="2606040" cy="3200400"/>
          </a:xfrm>
          <a:prstGeom prst="rect">
            <a:avLst/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600200"/>
            <a:ext cx="2606040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2880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14600"/>
            <a:ext cx="22402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Swarm of parallel research agents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Hot short-video trends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Cited evidence per trend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Why it fits the persona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600200"/>
            <a:ext cx="2606040" cy="3200400"/>
          </a:xfrm>
          <a:prstGeom prst="rect">
            <a:avLst/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600200"/>
            <a:ext cx="2606040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82880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514600"/>
            <a:ext cx="22402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Metrics in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KPI summary (inputs shown)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Hook scorecard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Next week's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0A3B1"/>
                </a:solidFill>
                <a:latin typeface="Segoe UI"/>
              </a:rPr>
              <a:t>Roadmap, not offered: Schedule and Engage are in the code in dry-run mode. Sokosumi cannot link Instagram or TikTok accounts yet.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Segoe UI"/>
              </a:rPr>
              <a:t>DEMO  ·  90 SECONDS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77240" y="566928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Demo video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0A3B1"/>
                </a:solidFill>
                <a:latin typeface="Segoe UI"/>
              </a:rPr>
              <a:t>PersonaLab  ·  TOKEN2049 Origins  ·  Masumi + Sokosumi on Cardano Preprod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A0A3B1"/>
                </a:solidFill>
                <a:latin typeface="Segoe UI"/>
              </a:rPr>
              <a:t>4</a:t>
            </a:r>
          </a:p>
        </p:txBody>
      </p:sp>
      <p:sp>
        <p:nvSpPr>
          <p:cNvPr id="7" name="Demo video placeholder"/>
          <p:cNvSpPr/>
          <p:nvPr/>
        </p:nvSpPr>
        <p:spPr>
          <a:xfrm>
            <a:off x="777240" y="1463040"/>
            <a:ext cx="6949440" cy="3931920"/>
          </a:xfrm>
          <a:prstGeom prst="roundRect">
            <a:avLst>
              <a:gd name="adj" fmla="val 4000"/>
            </a:avLst>
          </a:prstGeom>
          <a:solidFill>
            <a:srgbClr val="241B3D"/>
          </a:solidFill>
          <a:ln w="12700">
            <a:solidFill>
              <a:srgbClr val="8B5CF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Demo video goes here</a:t>
            </a:r>
          </a:p>
          <a:p>
            <a:pPr algn="ctr"/>
            <a:r>
              <a:rPr sz="2000" b="0">
                <a:solidFill>
                  <a:srgbClr val="A0A3B1"/>
                </a:solidFill>
                <a:latin typeface="Segoe UI"/>
              </a:rPr>
              <a:t>Insert &gt; Video &gt; This Device</a:t>
            </a:r>
          </a:p>
          <a:p>
            <a:pPr algn="ctr"/>
            <a:r>
              <a:rPr sz="2000" b="0">
                <a:solidFill>
                  <a:srgbClr val="A0A3B1"/>
                </a:solidFill>
                <a:latin typeface="Segoe UI"/>
              </a:rPr>
              <a:t>Delete this box and place the 90-second recording here (16:9).</a:t>
            </a:r>
          </a:p>
          <a:p>
            <a:pPr algn="ctr"/>
            <a:r>
              <a:rPr sz="2000" b="0">
                <a:solidFill>
                  <a:srgbClr val="A0A3B1"/>
                </a:solidFill>
                <a:latin typeface="Segoe UI"/>
              </a:rPr>
              <a:t>Must be embedded in the file, not linked.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463040"/>
            <a:ext cx="356616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Flow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1. Pick a card in Sokosumi, fill in the prompt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2. Task READY, worker runs runtime start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3. Supervisor routes on the [stage:*] tag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4. Agents run; result saved to the journal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5. runtime complete, Task COMPLETED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A0A3B1"/>
                </a:solidFill>
                <a:latin typeface="Segoe UI"/>
              </a:rPr>
              <a:t>6. Paid path: escrow, result hash, collection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Segoe UI"/>
              </a:rPr>
              <a:t>HOW IT RUNS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77240" y="566928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0A3B1"/>
                </a:solidFill>
                <a:latin typeface="Segoe UI"/>
              </a:rPr>
              <a:t>PersonaLab  ·  TOKEN2049 Origins  ·  Masumi + Sokosumi on Cardano Preprod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A0A3B1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Sokosumi Task</a:t>
            </a:r>
          </a:p>
          <a:p>
            <a:pPr algn="ctr"/>
            <a:r>
              <a:rPr sz="1400" b="0">
                <a:solidFill>
                  <a:srgbClr val="A0A3B1"/>
                </a:solidFill>
                <a:latin typeface="Segoe UI"/>
              </a:rPr>
              <a:t>card prompt [stage:*]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Node worker</a:t>
            </a:r>
          </a:p>
          <a:p>
            <a:pPr algn="ctr"/>
            <a:r>
              <a:rPr sz="1400" b="0">
                <a:solidFill>
                  <a:srgbClr val="A0A3B1"/>
                </a:solidFill>
                <a:latin typeface="Segoe UI"/>
              </a:rPr>
              <a:t>Sokosumi runtime + Masumi payment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73736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241B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LangGraph supervisor</a:t>
            </a:r>
          </a:p>
          <a:p>
            <a:pPr algn="ctr"/>
            <a:r>
              <a:rPr sz="1400" b="0">
                <a:solidFill>
                  <a:srgbClr val="A0A3B1"/>
                </a:solidFill>
                <a:latin typeface="Segoe UI"/>
              </a:rPr>
              <a:t>Python, FastAPI, loopback</a:t>
            </a:r>
          </a:p>
        </p:txBody>
      </p:sp>
      <p:cxnSp>
        <p:nvCxnSpPr>
          <p:cNvPr id="10" name="Connector 9"/>
          <p:cNvCxnSpPr>
            <a:stCxn id="7" idx="3"/>
            <a:endCxn id="8" idx="1"/>
          </p:cNvCxnSpPr>
          <p:nvPr/>
        </p:nvCxnSpPr>
        <p:spPr>
          <a:xfrm flipV="1">
            <a:off x="2926080" y="2263140"/>
            <a:ext cx="640080" cy="0"/>
          </a:xfrm>
          <a:prstGeom prst="line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8" idx="3"/>
            <a:endCxn id="9" idx="1"/>
          </p:cNvCxnSpPr>
          <p:nvPr/>
        </p:nvCxnSpPr>
        <p:spPr>
          <a:xfrm flipV="1">
            <a:off x="6126480" y="2263140"/>
            <a:ext cx="640080" cy="0"/>
          </a:xfrm>
          <a:prstGeom prst="line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38360" y="1234440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Script</a:t>
            </a:r>
          </a:p>
          <a:p>
            <a:pPr algn="ctr"/>
            <a:r>
              <a:rPr sz="1200" b="0">
                <a:solidFill>
                  <a:srgbClr val="A0A3B1"/>
                </a:solidFill>
                <a:latin typeface="Segoe UI"/>
              </a:rPr>
              <a:t>script agent</a:t>
            </a:r>
          </a:p>
        </p:txBody>
      </p:sp>
      <p:cxnSp>
        <p:nvCxnSpPr>
          <p:cNvPr id="13" name="Connector 12"/>
          <p:cNvCxnSpPr>
            <a:stCxn id="9" idx="3"/>
            <a:endCxn id="12" idx="1"/>
          </p:cNvCxnSpPr>
          <p:nvPr/>
        </p:nvCxnSpPr>
        <p:spPr>
          <a:xfrm flipV="1">
            <a:off x="9144000" y="1563624"/>
            <a:ext cx="594360" cy="699516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38360" y="2011680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Trends</a:t>
            </a:r>
          </a:p>
          <a:p>
            <a:pPr algn="ctr"/>
            <a:r>
              <a:rPr sz="1200" b="0">
                <a:solidFill>
                  <a:srgbClr val="A0A3B1"/>
                </a:solidFill>
                <a:latin typeface="Segoe UI"/>
              </a:rPr>
              <a:t>research swarm</a:t>
            </a:r>
          </a:p>
        </p:txBody>
      </p:sp>
      <p:cxnSp>
        <p:nvCxnSpPr>
          <p:cNvPr id="15" name="Connector 14"/>
          <p:cNvCxnSpPr>
            <a:stCxn id="9" idx="3"/>
            <a:endCxn id="14" idx="1"/>
          </p:cNvCxnSpPr>
          <p:nvPr/>
        </p:nvCxnSpPr>
        <p:spPr>
          <a:xfrm>
            <a:off x="9144000" y="2263140"/>
            <a:ext cx="594360" cy="77724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8360" y="2788920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Analyze</a:t>
            </a:r>
          </a:p>
          <a:p>
            <a:pPr algn="ctr"/>
            <a:r>
              <a:rPr sz="1200" b="0">
                <a:solidFill>
                  <a:srgbClr val="A0A3B1"/>
                </a:solidFill>
                <a:latin typeface="Segoe UI"/>
              </a:rPr>
              <a:t>analyst agent</a:t>
            </a:r>
          </a:p>
        </p:txBody>
      </p:sp>
      <p:cxnSp>
        <p:nvCxnSpPr>
          <p:cNvPr id="17" name="Connector 16"/>
          <p:cNvCxnSpPr>
            <a:stCxn id="9" idx="3"/>
            <a:endCxn id="16" idx="1"/>
          </p:cNvCxnSpPr>
          <p:nvPr/>
        </p:nvCxnSpPr>
        <p:spPr>
          <a:xfrm>
            <a:off x="9144000" y="2263140"/>
            <a:ext cx="594360" cy="854964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38360" y="3566160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Create</a:t>
            </a:r>
          </a:p>
          <a:p>
            <a:pPr algn="ctr"/>
            <a:r>
              <a:rPr sz="1200" b="0">
                <a:solidFill>
                  <a:srgbClr val="A0A3B1"/>
                </a:solidFill>
                <a:latin typeface="Segoe UI"/>
              </a:rPr>
              <a:t>persona, content, media</a:t>
            </a:r>
          </a:p>
        </p:txBody>
      </p:sp>
      <p:cxnSp>
        <p:nvCxnSpPr>
          <p:cNvPr id="19" name="Connector 18"/>
          <p:cNvCxnSpPr>
            <a:stCxn id="9" idx="3"/>
            <a:endCxn id="18" idx="1"/>
          </p:cNvCxnSpPr>
          <p:nvPr/>
        </p:nvCxnSpPr>
        <p:spPr>
          <a:xfrm>
            <a:off x="9144000" y="2263140"/>
            <a:ext cx="594360" cy="1632204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566160" y="40233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Masumi Payment Service</a:t>
            </a:r>
          </a:p>
          <a:p>
            <a:pPr algn="ctr"/>
            <a:r>
              <a:rPr sz="1200" b="0">
                <a:solidFill>
                  <a:srgbClr val="A0A3B1"/>
                </a:solidFill>
                <a:latin typeface="Segoe UI"/>
              </a:rPr>
              <a:t>terms, escrow, result hash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Cardano Preprod</a:t>
            </a:r>
          </a:p>
          <a:p>
            <a:pPr algn="ctr"/>
            <a:r>
              <a:rPr sz="1200" b="0">
                <a:solidFill>
                  <a:srgbClr val="A0A3B1"/>
                </a:solidFill>
                <a:latin typeface="Segoe UI"/>
              </a:rPr>
              <a:t>Web3CardanoV2 escrow</a:t>
            </a:r>
          </a:p>
        </p:txBody>
      </p:sp>
      <p:cxnSp>
        <p:nvCxnSpPr>
          <p:cNvPr id="22" name="Connector 21"/>
          <p:cNvCxnSpPr>
            <a:stCxn id="8" idx="2"/>
            <a:endCxn id="20" idx="0"/>
          </p:cNvCxnSpPr>
          <p:nvPr/>
        </p:nvCxnSpPr>
        <p:spPr>
          <a:xfrm flipH="1">
            <a:off x="4846320" y="2788920"/>
            <a:ext cx="0" cy="1234440"/>
          </a:xfrm>
          <a:prstGeom prst="line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20" idx="1"/>
            <a:endCxn id="21" idx="3"/>
          </p:cNvCxnSpPr>
          <p:nvPr/>
        </p:nvCxnSpPr>
        <p:spPr>
          <a:xfrm flipH="1" flipV="1">
            <a:off x="2926080" y="4480560"/>
            <a:ext cx="640080" cy="0"/>
          </a:xfrm>
          <a:prstGeom prst="line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66560" y="40233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DeepSeek V4.1 Flash</a:t>
            </a:r>
          </a:p>
          <a:p>
            <a:pPr algn="ctr"/>
            <a:r>
              <a:rPr sz="1200" b="0">
                <a:solidFill>
                  <a:srgbClr val="A0A3B1"/>
                </a:solidFill>
                <a:latin typeface="Segoe UI"/>
              </a:rPr>
              <a:t>OpenRouter 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4434840"/>
            <a:ext cx="1920240" cy="822960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Image model</a:t>
            </a:r>
          </a:p>
          <a:p>
            <a:pPr algn="ctr"/>
            <a:r>
              <a:rPr sz="1200" b="0">
                <a:solidFill>
                  <a:srgbClr val="A0A3B1"/>
                </a:solidFill>
                <a:latin typeface="Segoe UI"/>
              </a:rPr>
              <a:t>Create: persona photos</a:t>
            </a:r>
          </a:p>
        </p:txBody>
      </p:sp>
      <p:cxnSp>
        <p:nvCxnSpPr>
          <p:cNvPr id="26" name="Connector 25"/>
          <p:cNvCxnSpPr>
            <a:stCxn id="9" idx="2"/>
            <a:endCxn id="24" idx="0"/>
          </p:cNvCxnSpPr>
          <p:nvPr/>
        </p:nvCxnSpPr>
        <p:spPr>
          <a:xfrm flipH="1">
            <a:off x="7955280" y="2788920"/>
            <a:ext cx="0" cy="1234440"/>
          </a:xfrm>
          <a:prstGeom prst="line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8" idx="2"/>
            <a:endCxn id="25" idx="0"/>
          </p:cNvCxnSpPr>
          <p:nvPr/>
        </p:nvCxnSpPr>
        <p:spPr>
          <a:xfrm flipH="1">
            <a:off x="10698480" y="4224528"/>
            <a:ext cx="0" cy="210312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A0A3B1"/>
                </a:solidFill>
                <a:latin typeface="Segoe UI"/>
              </a:rPr>
              <a:t>Masumi agent registered: RegistrationConfirmed  ·  Worker polls every 5 s, one lock, journal per Task  ·  Secrets in .env.local and the OS vault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Segoe UI"/>
              </a:rPr>
              <a:t>INSIDE THE GRAPH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77240" y="566928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LangGraph agents and the trend swarm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0A3B1"/>
                </a:solidFill>
                <a:latin typeface="Segoe UI"/>
              </a:rPr>
              <a:t>PersonaLab  ·  TOKEN2049 Origins  ·  Masumi + Sokosumi on Cardano Preprod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A0A3B1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12064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Segoe UI"/>
              </a:rPr>
              <a:t>Supervisor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8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600" b="1">
                <a:solidFill>
                  <a:srgbClr val="FFFFFF"/>
                </a:solidFill>
                <a:latin typeface="Segoe UI"/>
              </a:rPr>
              <a:t>[stage:create]</a:t>
            </a:r>
            <a:r>
              <a:rPr sz="1600" b="0">
                <a:solidFill>
                  <a:srgbClr val="A0A3B1"/>
                </a:solidFill>
                <a:latin typeface="Segoe UI"/>
              </a:rPr>
              <a:t>  persona → content → media (image model)</a:t>
            </a:r>
          </a:p>
          <a:p>
            <a:pPr>
              <a:spcAft>
                <a:spcPts val="1000"/>
              </a:spcAft>
            </a:pPr>
            <a:r>
              <a:rPr sz="8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600" b="1">
                <a:solidFill>
                  <a:srgbClr val="FFFFFF"/>
                </a:solidFill>
                <a:latin typeface="Segoe UI"/>
              </a:rPr>
              <a:t>[stage:script]</a:t>
            </a:r>
            <a:r>
              <a:rPr sz="1600" b="0">
                <a:solidFill>
                  <a:srgbClr val="A0A3B1"/>
                </a:solidFill>
                <a:latin typeface="Segoe UI"/>
              </a:rPr>
              <a:t>  trend-based Reels and TikTok scripts</a:t>
            </a:r>
          </a:p>
          <a:p>
            <a:pPr>
              <a:spcAft>
                <a:spcPts val="1000"/>
              </a:spcAft>
            </a:pPr>
            <a:r>
              <a:rPr sz="8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600" b="1">
                <a:solidFill>
                  <a:srgbClr val="FFFFFF"/>
                </a:solidFill>
                <a:latin typeface="Segoe UI"/>
              </a:rPr>
              <a:t>[stage:trends]</a:t>
            </a:r>
            <a:r>
              <a:rPr sz="1600" b="0">
                <a:solidFill>
                  <a:srgbClr val="A0A3B1"/>
                </a:solidFill>
                <a:latin typeface="Segoe UI"/>
              </a:rPr>
              <a:t>  fan-out to the research swarm</a:t>
            </a:r>
          </a:p>
          <a:p>
            <a:pPr>
              <a:spcAft>
                <a:spcPts val="1000"/>
              </a:spcAft>
            </a:pPr>
            <a:r>
              <a:rPr sz="8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600" b="1">
                <a:solidFill>
                  <a:srgbClr val="FFFFFF"/>
                </a:solidFill>
                <a:latin typeface="Segoe UI"/>
              </a:rPr>
              <a:t>[stage:analyze]</a:t>
            </a:r>
            <a:r>
              <a:rPr sz="1600" b="0">
                <a:solidFill>
                  <a:srgbClr val="A0A3B1"/>
                </a:solidFill>
                <a:latin typeface="Segoe UI"/>
              </a:rPr>
              <a:t>  KPIs, hook scores, next week</a:t>
            </a:r>
          </a:p>
          <a:p>
            <a:pPr>
              <a:spcAft>
                <a:spcPts val="1000"/>
              </a:spcAft>
            </a:pPr>
            <a:r>
              <a:rPr sz="8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600" b="1">
                <a:solidFill>
                  <a:srgbClr val="FFFFFF"/>
                </a:solidFill>
                <a:latin typeface="Segoe UI"/>
              </a:rPr>
              <a:t>No tag</a:t>
            </a:r>
            <a:r>
              <a:rPr sz="1600" b="0">
                <a:solidFill>
                  <a:srgbClr val="A0A3B1"/>
                </a:solidFill>
                <a:latin typeface="Segoe UI"/>
              </a:rPr>
              <a:t>  the model classifies the 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241B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Split niche into research angles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88920"/>
            <a:ext cx="1143000" cy="868680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Agent 1</a:t>
            </a:r>
          </a:p>
          <a:p>
            <a:pPr algn="ctr"/>
            <a:r>
              <a:rPr sz="1100" b="0">
                <a:solidFill>
                  <a:srgbClr val="A0A3B1"/>
                </a:solidFill>
                <a:latin typeface="Segoe UI"/>
              </a:rPr>
              <a:t>researcher</a:t>
            </a:r>
          </a:p>
        </p:txBody>
      </p:sp>
      <p:cxnSp>
        <p:nvCxnSpPr>
          <p:cNvPr id="11" name="Connector 10"/>
          <p:cNvCxnSpPr>
            <a:stCxn id="9" idx="2"/>
            <a:endCxn id="10" idx="0"/>
          </p:cNvCxnSpPr>
          <p:nvPr/>
        </p:nvCxnSpPr>
        <p:spPr>
          <a:xfrm flipH="1">
            <a:off x="6972300" y="2286000"/>
            <a:ext cx="1988820" cy="502920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26680" y="2788920"/>
            <a:ext cx="1143000" cy="868680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Agent 2</a:t>
            </a:r>
          </a:p>
          <a:p>
            <a:pPr algn="ctr"/>
            <a:r>
              <a:rPr sz="1100" b="0">
                <a:solidFill>
                  <a:srgbClr val="A0A3B1"/>
                </a:solidFill>
                <a:latin typeface="Segoe UI"/>
              </a:rPr>
              <a:t>researcher</a:t>
            </a:r>
          </a:p>
        </p:txBody>
      </p:sp>
      <p:cxnSp>
        <p:nvCxnSpPr>
          <p:cNvPr id="13" name="Connector 12"/>
          <p:cNvCxnSpPr>
            <a:stCxn id="9" idx="2"/>
            <a:endCxn id="12" idx="0"/>
          </p:cNvCxnSpPr>
          <p:nvPr/>
        </p:nvCxnSpPr>
        <p:spPr>
          <a:xfrm flipH="1">
            <a:off x="8298180" y="2286000"/>
            <a:ext cx="662940" cy="502920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52560" y="2788920"/>
            <a:ext cx="1143000" cy="868680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Agent 3</a:t>
            </a:r>
          </a:p>
          <a:p>
            <a:pPr algn="ctr"/>
            <a:r>
              <a:rPr sz="1100" b="0">
                <a:solidFill>
                  <a:srgbClr val="A0A3B1"/>
                </a:solidFill>
                <a:latin typeface="Segoe UI"/>
              </a:rPr>
              <a:t>researcher</a:t>
            </a:r>
          </a:p>
        </p:txBody>
      </p:sp>
      <p:cxnSp>
        <p:nvCxnSpPr>
          <p:cNvPr id="15" name="Connector 14"/>
          <p:cNvCxnSpPr>
            <a:stCxn id="9" idx="2"/>
            <a:endCxn id="14" idx="0"/>
          </p:cNvCxnSpPr>
          <p:nvPr/>
        </p:nvCxnSpPr>
        <p:spPr>
          <a:xfrm>
            <a:off x="8961120" y="2286000"/>
            <a:ext cx="662940" cy="502920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378440" y="2788920"/>
            <a:ext cx="1143000" cy="868680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Agent 4</a:t>
            </a:r>
          </a:p>
          <a:p>
            <a:pPr algn="ctr"/>
            <a:r>
              <a:rPr sz="1100" b="0">
                <a:solidFill>
                  <a:srgbClr val="A0A3B1"/>
                </a:solidFill>
                <a:latin typeface="Segoe UI"/>
              </a:rPr>
              <a:t>researcher</a:t>
            </a:r>
          </a:p>
        </p:txBody>
      </p:sp>
      <p:cxnSp>
        <p:nvCxnSpPr>
          <p:cNvPr id="17" name="Connector 16"/>
          <p:cNvCxnSpPr>
            <a:stCxn id="9" idx="2"/>
            <a:endCxn id="16" idx="0"/>
          </p:cNvCxnSpPr>
          <p:nvPr/>
        </p:nvCxnSpPr>
        <p:spPr>
          <a:xfrm>
            <a:off x="8961120" y="2286000"/>
            <a:ext cx="1988820" cy="502920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41605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241B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Merge: dedupe, rank, keep only cited trends</a:t>
            </a:r>
          </a:p>
        </p:txBody>
      </p:sp>
      <p:cxnSp>
        <p:nvCxnSpPr>
          <p:cNvPr id="19" name="Connector 18"/>
          <p:cNvCxnSpPr>
            <a:stCxn id="10" idx="2"/>
            <a:endCxn id="18" idx="0"/>
          </p:cNvCxnSpPr>
          <p:nvPr/>
        </p:nvCxnSpPr>
        <p:spPr>
          <a:xfrm>
            <a:off x="6972300" y="3657600"/>
            <a:ext cx="1988820" cy="502920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2" idx="2"/>
            <a:endCxn id="18" idx="0"/>
          </p:cNvCxnSpPr>
          <p:nvPr/>
        </p:nvCxnSpPr>
        <p:spPr>
          <a:xfrm>
            <a:off x="8298180" y="3657600"/>
            <a:ext cx="662940" cy="502920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4" idx="2"/>
            <a:endCxn id="18" idx="0"/>
          </p:cNvCxnSpPr>
          <p:nvPr/>
        </p:nvCxnSpPr>
        <p:spPr>
          <a:xfrm flipH="1">
            <a:off x="8961120" y="3657600"/>
            <a:ext cx="662940" cy="502920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6" idx="2"/>
            <a:endCxn id="18" idx="0"/>
          </p:cNvCxnSpPr>
          <p:nvPr/>
        </p:nvCxnSpPr>
        <p:spPr>
          <a:xfrm flipH="1">
            <a:off x="8961120" y="3657600"/>
            <a:ext cx="1988820" cy="502920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0" y="5029200"/>
            <a:ext cx="5120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A0A3B1"/>
                </a:solidFill>
                <a:latin typeface="Segoe UI"/>
              </a:rPr>
              <a:t>Output: hot short-video trends, each with source links and why it fits the persona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Segoe UI"/>
              </a:rPr>
              <a:t>PAID PER TASK ON CARDANO PREPROD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77240" y="566928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Masumi payment flow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0A3B1"/>
                </a:solidFill>
                <a:latin typeface="Segoe UI"/>
              </a:rPr>
              <a:t>PersonaLab  ·  TOKEN2049 Origins  ·  Masumi + Sokosumi on Cardano Preprod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A0A3B1"/>
                </a:solidFill>
                <a:latin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2514600" cy="2103120"/>
          </a:xfrm>
          <a:prstGeom prst="roundRect">
            <a:avLst>
              <a:gd name="adj" fmla="val 8000"/>
            </a:avLst>
          </a:prstGeom>
          <a:solidFill>
            <a:srgbClr val="241B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  Terms</a:t>
            </a:r>
          </a:p>
          <a:p>
            <a:pPr algn="ctr"/>
            <a:r>
              <a:rPr sz="1800" b="0">
                <a:solidFill>
                  <a:srgbClr val="A0A3B1"/>
                </a:solidFill>
                <a:latin typeface="Segoe UI"/>
              </a:rPr>
              <a:t>1 tUSDM quote</a:t>
            </a:r>
          </a:p>
          <a:p>
            <a:pPr algn="ctr"/>
            <a:r>
              <a:rPr sz="1800" b="0">
                <a:solidFill>
                  <a:srgbClr val="A0A3B1"/>
                </a:solidFill>
                <a:latin typeface="Segoe UI"/>
              </a:rPr>
              <a:t>signed deadlines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0233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8" y="1737360"/>
            <a:ext cx="2514600" cy="2103120"/>
          </a:xfrm>
          <a:prstGeom prst="roundRect">
            <a:avLst>
              <a:gd name="adj" fmla="val 8000"/>
            </a:avLst>
          </a:prstGeom>
          <a:solidFill>
            <a:srgbClr val="241B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  Escrow</a:t>
            </a:r>
          </a:p>
          <a:p>
            <a:pPr algn="ctr"/>
            <a:r>
              <a:rPr sz="1800" b="0">
                <a:solidFill>
                  <a:srgbClr val="A0A3B1"/>
                </a:solidFill>
                <a:latin typeface="Segoe UI"/>
              </a:rPr>
              <a:t>funds locked in</a:t>
            </a:r>
          </a:p>
          <a:p>
            <a:pPr algn="ctr"/>
            <a:r>
              <a:rPr sz="1800" b="0">
                <a:solidFill>
                  <a:srgbClr val="A0A3B1"/>
                </a:solidFill>
                <a:latin typeface="Segoe UI"/>
              </a:rPr>
              <a:t>Web3CardanoV2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40233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FundsLocked</a:t>
            </a:r>
          </a:p>
        </p:txBody>
      </p:sp>
      <p:cxnSp>
        <p:nvCxnSpPr>
          <p:cNvPr id="11" name="Connector 10"/>
          <p:cNvCxnSpPr>
            <a:stCxn id="7" idx="3"/>
            <a:endCxn id="9" idx="1"/>
          </p:cNvCxnSpPr>
          <p:nvPr/>
        </p:nvCxnSpPr>
        <p:spPr>
          <a:xfrm flipV="1">
            <a:off x="3291840" y="2788920"/>
            <a:ext cx="338328" cy="0"/>
          </a:xfrm>
          <a:prstGeom prst="line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83096" y="1737360"/>
            <a:ext cx="2514600" cy="2103120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  Result hash</a:t>
            </a:r>
          </a:p>
          <a:p>
            <a:pPr algn="ctr"/>
            <a:r>
              <a:rPr sz="1800" b="0">
                <a:solidFill>
                  <a:srgbClr val="A0A3B1"/>
                </a:solidFill>
                <a:latin typeface="Segoe UI"/>
              </a:rPr>
              <a:t>SHA-256 of result</a:t>
            </a:r>
          </a:p>
          <a:p>
            <a:pPr algn="ctr"/>
            <a:r>
              <a:rPr sz="1800" b="0">
                <a:solidFill>
                  <a:srgbClr val="A0A3B1"/>
                </a:solidFill>
                <a:latin typeface="Segoe UI"/>
              </a:rPr>
              <a:t>submitted to MPS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94576" y="40233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71720"/>
          </a:solidFill>
          <a:ln w="12700">
            <a:solidFill>
              <a:srgbClr val="A0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TODO: verify</a:t>
            </a:r>
          </a:p>
        </p:txBody>
      </p:sp>
      <p:cxnSp>
        <p:nvCxnSpPr>
          <p:cNvPr id="14" name="Connector 13"/>
          <p:cNvCxnSpPr>
            <a:stCxn id="9" idx="3"/>
            <a:endCxn id="12" idx="1"/>
          </p:cNvCxnSpPr>
          <p:nvPr/>
        </p:nvCxnSpPr>
        <p:spPr>
          <a:xfrm flipV="1">
            <a:off x="6144768" y="2788920"/>
            <a:ext cx="338328" cy="0"/>
          </a:xfrm>
          <a:prstGeom prst="line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36024" y="1737360"/>
            <a:ext cx="2514600" cy="2103120"/>
          </a:xfrm>
          <a:prstGeom prst="roundRect">
            <a:avLst>
              <a:gd name="adj" fmla="val 8000"/>
            </a:avLst>
          </a:prstGeom>
          <a:solidFill>
            <a:srgbClr val="171720"/>
          </a:solidFill>
          <a:ln w="12700">
            <a:solidFill>
              <a:srgbClr val="2A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  Collection</a:t>
            </a:r>
          </a:p>
          <a:p>
            <a:pPr algn="ctr"/>
            <a:r>
              <a:rPr sz="1800" b="0">
                <a:solidFill>
                  <a:srgbClr val="A0A3B1"/>
                </a:solidFill>
                <a:latin typeface="Segoe UI"/>
              </a:rPr>
              <a:t>seller withdraws</a:t>
            </a:r>
          </a:p>
          <a:p>
            <a:pPr algn="ctr"/>
            <a:r>
              <a:rPr sz="1800" b="0">
                <a:solidFill>
                  <a:srgbClr val="A0A3B1"/>
                </a:solidFill>
                <a:latin typeface="Segoe UI"/>
              </a:rPr>
              <a:t>after unlockTime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7504" y="40233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71720"/>
          </a:solidFill>
          <a:ln w="12700">
            <a:solidFill>
              <a:srgbClr val="A0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cxnSp>
        <p:nvCxnSpPr>
          <p:cNvPr id="17" name="Connector 16"/>
          <p:cNvCxnSpPr>
            <a:stCxn id="12" idx="3"/>
            <a:endCxn id="15" idx="1"/>
          </p:cNvCxnSpPr>
          <p:nvPr/>
        </p:nvCxnSpPr>
        <p:spPr>
          <a:xfrm flipV="1">
            <a:off x="8997696" y="2788920"/>
            <a:ext cx="338328" cy="0"/>
          </a:xfrm>
          <a:prstGeom prst="line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47548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7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500" b="1">
                <a:solidFill>
                  <a:srgbClr val="FFFFFF"/>
                </a:solidFill>
                <a:latin typeface="Segoe UI"/>
              </a:rPr>
              <a:t>Crash-safe</a:t>
            </a:r>
            <a:r>
              <a:rPr sz="1500" b="0">
                <a:solidFill>
                  <a:srgbClr val="A0A3B1"/>
                </a:solidFill>
                <a:latin typeface="Segoe UI"/>
              </a:rPr>
              <a:t>  each step is journaled before the next outside write: never pays or collects twice</a:t>
            </a:r>
          </a:p>
          <a:p>
            <a:pPr>
              <a:spcAft>
                <a:spcPts val="600"/>
              </a:spcAft>
            </a:pPr>
            <a:r>
              <a:rPr sz="7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500" b="1">
                <a:solidFill>
                  <a:srgbClr val="FFFFFF"/>
                </a:solidFill>
                <a:latin typeface="Segoe UI"/>
              </a:rPr>
              <a:t>Verified receipt</a:t>
            </a:r>
            <a:r>
              <a:rPr sz="1500" b="0">
                <a:solidFill>
                  <a:srgbClr val="A0A3B1"/>
                </a:solidFill>
                <a:latin typeface="Segoe UI"/>
              </a:rPr>
              <a:t>  settlement.mjs cross-checks Core, the MPS withdrawal tx and Blockfrost UTxOs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Segoe UI"/>
              </a:rPr>
              <a:t>VERIFIED ON SOKOSUMI AND CARDANO PREPROD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77240" y="566928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Evidence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0A3B1"/>
                </a:solidFill>
                <a:latin typeface="Segoe UI"/>
              </a:rPr>
              <a:t>PersonaLab  ·  TOKEN2049 Origins  ·  Masumi + Sokosumi on Cardano Preprod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A0A3B1"/>
                </a:solidFill>
                <a:latin typeface="Segoe U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6304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863840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24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241B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Coworker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17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0A3B1"/>
                          </a:solidFill>
                          <a:latin typeface="Consolas"/>
                        </a:rPr>
                        <a:t>01a1156a-dbc8-7360-813b-043c0e148296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1717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Masumi agent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0A3B1"/>
                          </a:solidFill>
                          <a:latin typeface="Consolas"/>
                        </a:rPr>
                        <a:t>RegistrationConfirmed  ·  67ab0c92c4ac1610…eba022000000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0B0B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Registration tx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17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B5CF6"/>
                          </a:solidFill>
                          <a:latin typeface="Consolas"/>
                          <a:hlinkClick r:id="rId3"/>
                        </a:rPr>
                        <a:t>ca5832b506f34a834a732eba2ff3f00cc52f2fb6bcf84016670deadc6af85dc1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1717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Task, personal (Engage)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0A3B1"/>
                          </a:solidFill>
                          <a:latin typeface="Consolas"/>
                        </a:rPr>
                        <a:t>01a115be-d0ca-77d5-bf90-b98aa4487fec  ·  COMPLETED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0B0B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Task, event workspace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17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0A3B1"/>
                          </a:solidFill>
                          <a:latin typeface="Consolas"/>
                        </a:rPr>
                        <a:t>01a115c6-b98d-75bd-b5b0-7ab2f85d4ab4  ·  COMPLETED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1717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Paid Task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0A3B1"/>
                          </a:solidFill>
                          <a:latin typeface="Consolas"/>
                        </a:rPr>
                        <a:t>01a115db-7a10-7148-8526-d516924c360c  ·  Escrow FundsLocked, collection pending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0B0B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Escrow tx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17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B5CF6"/>
                          </a:solidFill>
                          <a:latin typeface="Consolas"/>
                        </a:rPr>
                        <a:t>TODO: escrow tx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1717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Collection tx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B5CF6"/>
                          </a:solidFill>
                          <a:latin typeface="Consolas"/>
                        </a:rPr>
                        <a:t>TODO: collection tx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0B0B1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Net seller receipt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1717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B5CF6"/>
                          </a:solidFill>
                          <a:latin typeface="Consolas"/>
                        </a:rPr>
                        <a:t>TODO: net tUSDM received (settlement.mjs)</a:t>
                      </a:r>
                    </a:p>
                  </a:txBody>
                  <a:tcPr marL="109728" anchor="ctr">
                    <a:lnB w="12700">
                      <a:solidFill>
                        <a:srgbClr val="2A2A38"/>
                      </a:solidFill>
                    </a:lnB>
                    <a:lnT w="12700">
                      <a:solidFill>
                        <a:srgbClr val="2A2A38"/>
                      </a:solidFill>
                    </a:lnT>
                    <a:lnR w="12700">
                      <a:solidFill>
                        <a:srgbClr val="2A2A38"/>
                      </a:solidFill>
                    </a:lnR>
                    <a:lnL w="12700">
                      <a:solidFill>
                        <a:srgbClr val="2A2A38"/>
                      </a:solidFill>
                    </a:lnL>
                    <a:solidFill>
                      <a:srgbClr val="1717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Segoe UI"/>
              </a:rPr>
              <a:t>TRUST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77240" y="566928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Quality and safety checks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0A3B1"/>
                </a:solidFill>
                <a:latin typeface="Segoe UI"/>
              </a:rPr>
              <a:t>PersonaLab  ·  TOKEN2049 Origins  ·  Masumi + Sokosumi on Cardano Preprod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A0A3B1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Fixed output sections</a:t>
            </a:r>
            <a:r>
              <a:rPr sz="1900" b="0">
                <a:solidFill>
                  <a:srgbClr val="A0A3B1"/>
                </a:solidFill>
                <a:latin typeface="Segoe UI"/>
              </a:rPr>
              <a:t>  the smoke test counts every ## heading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No invented numbers</a:t>
            </a:r>
            <a:r>
              <a:rPr sz="1900" b="0">
                <a:solidFill>
                  <a:srgbClr val="A0A3B1"/>
                </a:solidFill>
                <a:latin typeface="Segoe UI"/>
              </a:rPr>
              <a:t>  unsure figures are marked [verify]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Cited trends only</a:t>
            </a:r>
            <a:r>
              <a:rPr sz="1900" b="0">
                <a:solidFill>
                  <a:srgbClr val="A0A3B1"/>
                </a:solidFill>
                <a:latin typeface="Segoe UI"/>
              </a:rPr>
              <a:t>  a trend without a source link is dropped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Original personas</a:t>
            </a:r>
            <a:r>
              <a:rPr sz="1900" b="0">
                <a:solidFill>
                  <a:srgbClr val="A0A3B1"/>
                </a:solidFill>
                <a:latin typeface="Segoe UI"/>
              </a:rPr>
              <a:t>  never a real person's likeness; AI disclosure recommended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Untrusted input</a:t>
            </a:r>
            <a:r>
              <a:rPr sz="1900" b="0">
                <a:solidFill>
                  <a:srgbClr val="A0A3B1"/>
                </a:solidFill>
                <a:latin typeface="Segoe UI"/>
              </a:rPr>
              <a:t>  pasted text and web pages are data, not instructions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Ops</a:t>
            </a:r>
            <a:r>
              <a:rPr sz="1900" b="0">
                <a:solidFill>
                  <a:srgbClr val="A0A3B1"/>
                </a:solidFill>
                <a:latin typeface="Segoe UI"/>
              </a:rPr>
              <a:t>  bearer-token loopback graph, secrets only in .env.local and the OS vault, errors logged without prompts or keys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Segoe UI"/>
              </a:rPr>
              <a:t>HONEST LOG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77240" y="566928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What needed human help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0A3B1"/>
                </a:solidFill>
                <a:latin typeface="Segoe UI"/>
              </a:rPr>
              <a:t>PersonaLab  ·  TOKEN2049 Origins  ·  Masumi + Sokosumi on Cardano Preprod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A0A3B1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Login</a:t>
            </a:r>
            <a:r>
              <a:rPr sz="1900" b="0">
                <a:solidFill>
                  <a:srgbClr val="A0A3B1"/>
                </a:solidFill>
                <a:latin typeface="Segoe UI"/>
              </a:rPr>
              <a:t>  OAuth in the owner's browser, plus a fix for Windows cutting the URL at &amp;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Access</a:t>
            </a:r>
            <a:r>
              <a:rPr sz="1900" b="0">
                <a:solidFill>
                  <a:srgbClr val="A0A3B1"/>
                </a:solidFill>
                <a:latin typeface="Segoe UI"/>
              </a:rPr>
              <a:t>  reusing the Vendor and Coworker; organizer approval for the event Workspace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Keys and funds</a:t>
            </a:r>
            <a:r>
              <a:rPr sz="1900" b="0">
                <a:solidFill>
                  <a:srgbClr val="A0A3B1"/>
                </a:solidFill>
                <a:latin typeface="Segoe UI"/>
              </a:rPr>
              <a:t>  model API key, Blockfrost Preprod key, test ADA and USDM from the faucet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Local infra</a:t>
            </a:r>
            <a:r>
              <a:rPr sz="1900" b="0">
                <a:solidFill>
                  <a:srgbClr val="A0A3B1"/>
                </a:solidFill>
                <a:latin typeface="Segoe UI"/>
              </a:rPr>
              <a:t>  starting Docker Desktop for the MPS Postgres database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Payment</a:t>
            </a:r>
            <a:r>
              <a:rPr sz="1900" b="0">
                <a:solidFill>
                  <a:srgbClr val="A0A3B1"/>
                </a:solidFill>
                <a:latin typeface="Segoe UI"/>
              </a:rPr>
              <a:t>  approving the paid Task; seller collection still pending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Scope</a:t>
            </a:r>
            <a:r>
              <a:rPr sz="1900" b="0">
                <a:solidFill>
                  <a:srgbClr val="A0A3B1"/>
                </a:solidFill>
                <a:latin typeface="Segoe UI"/>
              </a:rPr>
              <a:t>  no Instagram/TikTok linking in Sokosumi, so Schedule and Engage moved to the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Segoe UI"/>
              </a:rPr>
              <a:t>NEXT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77240" y="566928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Roadmap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0A3B1"/>
                </a:solidFill>
                <a:latin typeface="Segoe UI"/>
              </a:rPr>
              <a:t>PersonaLab  ·  TOKEN2049 Origins  ·  Masumi + Sokosumi on Cardano Preprod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A0A3B1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Schedule + Engage</a:t>
            </a:r>
            <a:r>
              <a:rPr sz="1900" b="0">
                <a:solidFill>
                  <a:srgbClr val="A0A3B1"/>
                </a:solidFill>
                <a:latin typeface="Segoe UI"/>
              </a:rPr>
              <a:t>  in code, dry-run today; go live once Sokosumi can link Instagram/TikTok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Video</a:t>
            </a:r>
            <a:r>
              <a:rPr sz="1900" b="0">
                <a:solidFill>
                  <a:srgbClr val="A0A3B1"/>
                </a:solidFill>
                <a:latin typeface="Segoe UI"/>
              </a:rPr>
              <a:t>  image-to-video reels and voiceover from the persona photos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Human approval</a:t>
            </a:r>
            <a:r>
              <a:rPr sz="1900" b="0">
                <a:solidFill>
                  <a:srgbClr val="A0A3B1"/>
                </a:solidFill>
                <a:latin typeface="Segoe UI"/>
              </a:rPr>
              <a:t>  LangGraph interrupt() with a Postgres checkpointer, approved via Task comments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Agent-to-agent</a:t>
            </a:r>
            <a:r>
              <a:rPr sz="1900" b="0">
                <a:solidFill>
                  <a:srgbClr val="A0A3B1"/>
                </a:solidFill>
                <a:latin typeface="Segoe UI"/>
              </a:rPr>
              <a:t>  each stage as its own Masumi agent, hireable through /v1/tasks/{id}/jobs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8B5CF6"/>
                </a:solidFill>
                <a:latin typeface="Segoe UI"/>
              </a:rPr>
              <a:t>■  </a:t>
            </a:r>
            <a:r>
              <a:rPr sz="1900" b="1">
                <a:solidFill>
                  <a:srgbClr val="FFFFFF"/>
                </a:solidFill>
                <a:latin typeface="Segoe UI"/>
              </a:rPr>
              <a:t>Hosted</a:t>
            </a:r>
            <a:r>
              <a:rPr sz="1900" b="0">
                <a:solidFill>
                  <a:srgbClr val="A0A3B1"/>
                </a:solidFill>
                <a:latin typeface="Segoe UI"/>
              </a:rPr>
              <a:t>  graph, worker and MPS deployed; pass a laptop-offline 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Segoe UI"/>
              </a:rPr>
              <a:t>CONTACT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77240" y="566928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Team and links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0A3B1"/>
                </a:solidFill>
                <a:latin typeface="Segoe UI"/>
              </a:rPr>
              <a:t>PersonaLab  ·  TOKEN2049 Origins  ·  Masumi + Sokosumi on Cardano Preprod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A0A3B1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Repository:  </a:t>
            </a:r>
            <a:r>
              <a:rPr sz="1800" b="0">
                <a:solidFill>
                  <a:srgbClr val="8B5CF6"/>
                </a:solidFill>
                <a:latin typeface="Segoe UI"/>
                <a:hlinkClick r:id="rId3"/>
              </a:rPr>
              <a:t>https://github.com/ixgnoy/personalab-coworker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Repo access:  </a:t>
            </a:r>
            <a:r>
              <a:rPr sz="1800" b="0">
                <a:solidFill>
                  <a:srgbClr val="8B5CF6"/>
                </a:solidFill>
                <a:latin typeface="Segoe UI"/>
              </a:rPr>
              <a:t>Private: judges need access (send GitHub handles)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Coworker:  </a:t>
            </a:r>
            <a:r>
              <a:rPr sz="1800" b="0">
                <a:solidFill>
                  <a:srgbClr val="A0A3B1"/>
                </a:solidFill>
                <a:latin typeface="Segoe UI"/>
              </a:rPr>
              <a:t>01a1156a-dbc8-7360-813b-043c0e148296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Vendor:  </a:t>
            </a:r>
            <a:r>
              <a:rPr sz="1800" b="0">
                <a:solidFill>
                  <a:srgbClr val="A0A3B1"/>
                </a:solidFill>
                <a:latin typeface="Segoe UI"/>
              </a:rPr>
              <a:t>CardanoFish 01a1156a-7184-77bb-a15f-f712b72381be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Masumi registration:  </a:t>
            </a:r>
            <a:r>
              <a:rPr sz="1800" b="0">
                <a:solidFill>
                  <a:srgbClr val="8B5CF6"/>
                </a:solidFill>
                <a:latin typeface="Segoe UI"/>
                <a:hlinkClick r:id="rId4"/>
              </a:rPr>
              <a:t>ca5832b506f34a834a732eba…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Team:  </a:t>
            </a:r>
            <a:r>
              <a:rPr sz="1800" b="0">
                <a:solidFill>
                  <a:srgbClr val="8B5CF6"/>
                </a:solidFill>
                <a:latin typeface="Segoe UI"/>
              </a:rPr>
              <a:t>TODO: 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8B5CF6"/>
                </a:solidFill>
                <a:latin typeface="Segoe UI"/>
              </a:rPr>
              <a:t>PersonaLab: your AI influencer team, hired by the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B5CF6"/>
      </a:hlink>
      <a:folHlink>
        <a:srgbClr val="8B5CF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